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2AC00"/>
    <a:srgbClr val="EEB5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43" d="100"/>
          <a:sy n="43" d="100"/>
        </p:scale>
        <p:origin x="67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alphaModFix amt="6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412FC-3757-652C-E84C-956D72A01A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5000" b="1" i="0" baseline="0">
                <a:solidFill>
                  <a:srgbClr val="996633"/>
                </a:solidFill>
                <a:latin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D4F828-E7B8-D87A-F418-FF3F13A592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3200" b="1" i="0" baseline="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C9194E-F860-EB1D-09C4-6A981B71C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045E3-FE89-4073-B4EB-EF398F53348F}" type="datetimeFigureOut">
              <a:rPr lang="en-US" smtClean="0"/>
              <a:t>23/09/2026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907252-3D25-0D93-A91E-028E89EC5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8519AC-1144-D049-732C-4CF193C03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A0C60-81B0-4467-B017-7BA10A4911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4366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91699-36AE-FA3C-F8A8-1F0C5C498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EDDF09-0043-4317-B919-97EA4E3DEB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136B4B-3362-784C-9604-9909F17B6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045E3-FE89-4073-B4EB-EF398F53348F}" type="datetimeFigureOut">
              <a:rPr lang="en-US" smtClean="0"/>
              <a:t>23/09/2026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D4CED0-3659-6E67-0528-97F80B23B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33A6B7-D932-B2E6-7781-7D1278E66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A0C60-81B0-4467-B017-7BA10A4911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7680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12220-3195-8266-6478-57DACDFA2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A3966E-60D6-7E90-42AC-38C5521D74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45DCDD-1533-D2E6-D6FC-850C20301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045E3-FE89-4073-B4EB-EF398F53348F}" type="datetimeFigureOut">
              <a:rPr lang="en-US" smtClean="0"/>
              <a:t>23/09/2026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E3EE25-C7B2-AD09-2742-B06CF6B3D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D107C5-AB8B-1D89-A576-F3DBD0524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A0C60-81B0-4467-B017-7BA10A4911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8398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FA241-D62F-2439-F14A-0831E22AE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E6FA2B-FD9A-297D-A678-89B1FF24D1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AE166D-4B44-F7E5-6F95-73C51445EA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33686F-1431-FD3B-9CA4-1C3A80131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045E3-FE89-4073-B4EB-EF398F53348F}" type="datetimeFigureOut">
              <a:rPr lang="en-US" smtClean="0"/>
              <a:t>23/09/2026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81FBDE-CB1C-4C19-AF72-902E1B1DC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1D7EDE-980B-9CA0-4678-CBA832904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A0C60-81B0-4467-B017-7BA10A4911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0086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70694-A3E5-F757-429B-458D5692E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7D39AC-F4AB-9968-D34C-BEF26DA664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2053A9-22AB-7E06-699A-9DA5911062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B92EE2-EB8B-386D-F4F0-ED5E86525A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510B6F-2D18-BD71-F253-9202BD2EF7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2D0737-20E2-3EDC-D96F-D0ACF5945F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045E3-FE89-4073-B4EB-EF398F53348F}" type="datetimeFigureOut">
              <a:rPr lang="en-US" smtClean="0"/>
              <a:t>23/09/2026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9EDCAF-A5EF-160E-38CD-5BF04CAB6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568DDF-4A05-7676-1A9E-3C6E4DA0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A0C60-81B0-4467-B017-7BA10A4911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27441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1">
          <a:blip r:embed="rId2">
            <a:alphaModFix amt="8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56D9E-F72A-6FCA-0A6F-E99225A99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6E321C-22B4-9873-C444-F96B951D2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045E3-FE89-4073-B4EB-EF398F53348F}" type="datetimeFigureOut">
              <a:rPr lang="en-US" smtClean="0"/>
              <a:t>23/09/2026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CF9D79-B648-E3C7-9E33-1199EEE64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2F348B-73ED-D1C9-21C4-79CCC2289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A0C60-81B0-4467-B017-7BA10A4911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96369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F29918-E2AF-A6F8-7D9A-28C5DF581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045E3-FE89-4073-B4EB-EF398F53348F}" type="datetimeFigureOut">
              <a:rPr lang="en-US" smtClean="0"/>
              <a:t>23/09/2026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050D07-961C-949C-77B4-4560A9116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79AF7B-8A84-985D-21A1-2DDE74B29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A0C60-81B0-4467-B017-7BA10A4911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06593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6FC46-827B-7A51-4CB7-FE6AD613C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849E39-E88C-9AA6-5B86-B646B08A82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DE0EB4-6930-C099-EF5D-15E5393327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AEF51A-9B64-5E06-3FA5-56DAD30CE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045E3-FE89-4073-B4EB-EF398F53348F}" type="datetimeFigureOut">
              <a:rPr lang="en-US" smtClean="0"/>
              <a:t>23/09/2026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824548-FE28-FFE2-5032-16C6D70B5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8D9674-8550-CE6E-F2A8-FB74BB8FD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A0C60-81B0-4467-B017-7BA10A4911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04871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C5651-C307-15BF-9F17-65347C5BE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3747BA-4146-81EE-7A2B-218423ACE3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F01AAC-128C-E13D-DBC8-E41D454979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BBC0FE-0F76-0C78-B955-A7B6287B5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045E3-FE89-4073-B4EB-EF398F53348F}" type="datetimeFigureOut">
              <a:rPr lang="en-US" smtClean="0"/>
              <a:t>23/09/2026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009815-B93A-E3D7-C9C5-B003BA0EA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10BE8F-E42D-11D7-DBDE-7D6259629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A0C60-81B0-4467-B017-7BA10A4911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79885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0E850-8E96-1606-6178-B19147874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6A0102-7FEE-925D-0346-2DD93F6FBB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691622-DC53-AD2A-5E95-835E17C15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045E3-FE89-4073-B4EB-EF398F53348F}" type="datetimeFigureOut">
              <a:rPr lang="en-US" smtClean="0"/>
              <a:t>23/09/2026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829BED-0BFF-7FAE-C8C8-F760F7799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2D936B-F0FD-90B2-F6BA-74F4C4A72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A0C60-81B0-4467-B017-7BA10A4911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621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27834A-6294-26E5-CD50-17C24959BE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CB7488-8017-0CA9-AAAC-6BF99AF190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3AC47-3151-EE4A-6FBC-1E6CED29E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045E3-FE89-4073-B4EB-EF398F53348F}" type="datetimeFigureOut">
              <a:rPr lang="en-US" smtClean="0"/>
              <a:t>23/09/2026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423C17-9D5C-387A-7476-D7B9706F0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1F209F-5C39-7CEF-BCD4-4859DCE70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A0C60-81B0-4467-B017-7BA10A4911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568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8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A80323-341A-A4BB-3CAB-593F20596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246969-AA55-B84F-7F82-65D2290F18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0B5E22-DFC5-71E2-AECD-CBE5B8B677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3045E3-FE89-4073-B4EB-EF398F53348F}" type="datetimeFigureOut">
              <a:rPr lang="en-US" smtClean="0"/>
              <a:t>23/09/2026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9F88AF-3FD2-06BD-A539-76D89F5D57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A82F0E-9846-112E-1D0F-4721F5FE1D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9A0C60-81B0-4467-B017-7BA10A4911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908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 baseline="0">
          <a:solidFill>
            <a:srgbClr val="996633"/>
          </a:solidFill>
          <a:latin typeface="Times New Roman" panose="02020603050405020304" pitchFamily="18" charset="0"/>
          <a:ea typeface="+mj-ea"/>
          <a:cs typeface="+mj-cs"/>
        </a:defRPr>
      </a:lvl1pPr>
    </p:titleStyle>
    <p:bodyStyle>
      <a:lvl1pPr marL="457200" indent="-4572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200" kern="1200" baseline="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Times New Roman" panose="02020603050405020304" pitchFamily="18" charset="0"/>
        <a:buChar char="‐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Times New Roman" panose="02020603050405020304" pitchFamily="18" charset="0"/>
        <a:buChar char="+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2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ü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8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9A906-0B18-2AF2-FEF5-C740A5B2F8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14438"/>
            <a:ext cx="9144000" cy="2387600"/>
          </a:xfrm>
        </p:spPr>
        <p:txBody>
          <a:bodyPr/>
          <a:lstStyle/>
          <a:p>
            <a:r>
              <a:rPr lang="vi-VN" sz="5400" dirty="0">
                <a:solidFill>
                  <a:srgbClr val="EEB500"/>
                </a:solidFill>
              </a:rPr>
              <a:t>BỐ CỤC MỘT BÀI THUYẾT TRÌNH</a:t>
            </a:r>
            <a:endParaRPr lang="en-US" dirty="0">
              <a:solidFill>
                <a:srgbClr val="EEB5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31F9DA-AAD7-11AC-9F16-06233B1BC5C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vi-VN" dirty="0"/>
              <a:t>THS. Họ và tên </a:t>
            </a:r>
            <a:endParaRPr lang="en-US" dirty="0"/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05799" y="6105338"/>
            <a:ext cx="3437965" cy="187885"/>
          </a:xfrm>
        </p:spPr>
        <p:txBody>
          <a:bodyPr/>
          <a:lstStyle>
            <a:lvl1pPr>
              <a:defRPr sz="1400" b="1">
                <a:solidFill>
                  <a:schemeClr val="tx1"/>
                </a:solidFill>
              </a:defRPr>
            </a:lvl1pPr>
          </a:lstStyle>
          <a:p>
            <a:r>
              <a:rPr lang="en-US" dirty="0" err="1" smtClean="0">
                <a:solidFill>
                  <a:schemeClr val="bg1"/>
                </a:solidFill>
              </a:rPr>
              <a:t>Trích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 err="1" smtClean="0">
                <a:solidFill>
                  <a:schemeClr val="bg1"/>
                </a:solidFill>
              </a:rPr>
              <a:t>từ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 err="1" smtClean="0">
                <a:solidFill>
                  <a:schemeClr val="bg1"/>
                </a:solidFill>
              </a:rPr>
              <a:t>Tủ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 err="1" smtClean="0">
                <a:solidFill>
                  <a:schemeClr val="bg1"/>
                </a:solidFill>
              </a:rPr>
              <a:t>sách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 err="1" smtClean="0">
                <a:solidFill>
                  <a:schemeClr val="bg1"/>
                </a:solidFill>
              </a:rPr>
              <a:t>Khoa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 err="1" smtClean="0">
                <a:solidFill>
                  <a:schemeClr val="bg1"/>
                </a:solidFill>
              </a:rPr>
              <a:t>học</a:t>
            </a:r>
            <a:r>
              <a:rPr lang="en-US" dirty="0" smtClean="0">
                <a:solidFill>
                  <a:schemeClr val="bg1"/>
                </a:solidFill>
              </a:rPr>
              <a:t> VLOS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1482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>
                <a:solidFill>
                  <a:srgbClr val="E2AC00"/>
                </a:solidFill>
              </a:rPr>
              <a:t>GIỚI THIỆU</a:t>
            </a:r>
            <a:endParaRPr lang="en-US" dirty="0">
              <a:solidFill>
                <a:srgbClr val="E2AC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mở</a:t>
            </a:r>
            <a:r>
              <a:rPr lang="en-US" dirty="0"/>
              <a:t> </a:t>
            </a:r>
            <a:r>
              <a:rPr lang="en-US" dirty="0" err="1"/>
              <a:t>đầu</a:t>
            </a:r>
            <a:endParaRPr lang="vi-VN" dirty="0"/>
          </a:p>
          <a:p>
            <a:pPr marL="1371600" lvl="2" indent="-457200">
              <a:buFont typeface="Times New Roman" panose="02020603050405020304" pitchFamily="18" charset="0"/>
              <a:buChar char="‾"/>
            </a:pPr>
            <a:r>
              <a:rPr lang="en-US" sz="3200" dirty="0"/>
              <a:t> </a:t>
            </a:r>
            <a:r>
              <a:rPr lang="en-US" sz="3200" dirty="0" err="1"/>
              <a:t>Cần</a:t>
            </a:r>
            <a:r>
              <a:rPr lang="en-US" sz="3200" dirty="0"/>
              <a:t> </a:t>
            </a:r>
            <a:r>
              <a:rPr lang="en-US" sz="3200" dirty="0" err="1"/>
              <a:t>đạt</a:t>
            </a:r>
            <a:r>
              <a:rPr lang="en-US" sz="3200" dirty="0"/>
              <a:t> </a:t>
            </a:r>
            <a:r>
              <a:rPr lang="en-US" sz="3200" dirty="0" err="1"/>
              <a:t>được</a:t>
            </a:r>
            <a:r>
              <a:rPr lang="en-US" sz="3200" dirty="0"/>
              <a:t> </a:t>
            </a:r>
            <a:r>
              <a:rPr lang="en-US" sz="3200" dirty="0" err="1"/>
              <a:t>mục</a:t>
            </a:r>
            <a:r>
              <a:rPr lang="en-US" sz="3200" dirty="0"/>
              <a:t> </a:t>
            </a:r>
            <a:r>
              <a:rPr lang="en-US" sz="3200" dirty="0" err="1"/>
              <a:t>đích</a:t>
            </a:r>
            <a:endParaRPr lang="vi-VN" sz="3200" dirty="0"/>
          </a:p>
          <a:p>
            <a:pPr marL="342900" indent="-342900"/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chính</a:t>
            </a:r>
            <a:endParaRPr lang="vi-VN" dirty="0"/>
          </a:p>
          <a:p>
            <a:pPr marL="1371600" lvl="2" indent="-457200">
              <a:buFont typeface="Times New Roman" panose="02020603050405020304" pitchFamily="18" charset="0"/>
              <a:buChar char="‾"/>
            </a:pPr>
            <a:r>
              <a:rPr lang="en-US" sz="3200" dirty="0"/>
              <a:t> </a:t>
            </a:r>
            <a:r>
              <a:rPr lang="en-US" sz="3200" dirty="0" err="1"/>
              <a:t>Đưa</a:t>
            </a:r>
            <a:r>
              <a:rPr lang="en-US" sz="3200" dirty="0"/>
              <a:t> </a:t>
            </a:r>
            <a:r>
              <a:rPr lang="en-US" sz="3200" dirty="0" err="1"/>
              <a:t>ra</a:t>
            </a:r>
            <a:r>
              <a:rPr lang="en-US" sz="3200" dirty="0"/>
              <a:t> </a:t>
            </a:r>
            <a:r>
              <a:rPr lang="en-US" sz="3200" dirty="0" err="1"/>
              <a:t>giải</a:t>
            </a:r>
            <a:r>
              <a:rPr lang="en-US" sz="3200" dirty="0"/>
              <a:t> </a:t>
            </a:r>
            <a:r>
              <a:rPr lang="en-US" sz="3200" dirty="0" err="1"/>
              <a:t>pháp</a:t>
            </a:r>
            <a:r>
              <a:rPr lang="en-US" sz="3200" dirty="0"/>
              <a:t>, ý </a:t>
            </a:r>
            <a:r>
              <a:rPr lang="en-US" sz="3200" dirty="0" err="1"/>
              <a:t>kiến</a:t>
            </a:r>
            <a:endParaRPr lang="vi-VN" sz="3200" dirty="0"/>
          </a:p>
          <a:p>
            <a:pPr marL="342900" indent="-342900"/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kết</a:t>
            </a:r>
            <a:endParaRPr lang="vi-VN" dirty="0"/>
          </a:p>
          <a:p>
            <a:pPr marL="1371600" lvl="2" indent="-457200">
              <a:buFont typeface="Times New Roman" panose="02020603050405020304" pitchFamily="18" charset="0"/>
              <a:buChar char="‾"/>
            </a:pPr>
            <a:r>
              <a:rPr lang="en-US" sz="3200" dirty="0" err="1"/>
              <a:t>Tóm</a:t>
            </a:r>
            <a:r>
              <a:rPr lang="en-US" sz="3200" dirty="0"/>
              <a:t> </a:t>
            </a:r>
            <a:r>
              <a:rPr lang="en-US" sz="3200" dirty="0" err="1"/>
              <a:t>tắt</a:t>
            </a:r>
            <a:r>
              <a:rPr lang="en-US" sz="3200" dirty="0"/>
              <a:t> </a:t>
            </a:r>
            <a:r>
              <a:rPr lang="en-US" sz="3200" dirty="0" err="1"/>
              <a:t>các</a:t>
            </a:r>
            <a:r>
              <a:rPr lang="en-US" sz="3200" dirty="0"/>
              <a:t> </a:t>
            </a:r>
            <a:r>
              <a:rPr lang="en-US" sz="3200" dirty="0" err="1"/>
              <a:t>nội</a:t>
            </a:r>
            <a:r>
              <a:rPr lang="en-US" sz="3200" dirty="0"/>
              <a:t> dung </a:t>
            </a:r>
            <a:r>
              <a:rPr lang="en-US" sz="3200" dirty="0" err="1"/>
              <a:t>đã</a:t>
            </a:r>
            <a:r>
              <a:rPr lang="en-US" sz="3200" dirty="0"/>
              <a:t> </a:t>
            </a:r>
            <a:r>
              <a:rPr lang="en-US" sz="3200" dirty="0" err="1"/>
              <a:t>được</a:t>
            </a:r>
            <a:r>
              <a:rPr lang="en-US" sz="3200" dirty="0"/>
              <a:t> </a:t>
            </a:r>
            <a:r>
              <a:rPr lang="en-US" sz="3200" dirty="0" err="1"/>
              <a:t>trình</a:t>
            </a:r>
            <a:r>
              <a:rPr lang="en-US" sz="3200" dirty="0"/>
              <a:t> </a:t>
            </a:r>
            <a:r>
              <a:rPr lang="en-US" sz="3200" dirty="0" err="1"/>
              <a:t>bày</a:t>
            </a:r>
            <a:endParaRPr lang="en-US" sz="3200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755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smtClean="0">
                <a:solidFill>
                  <a:srgbClr val="E2AC00"/>
                </a:solidFill>
              </a:rPr>
              <a:t>PHÂN MỞ ĐẦU </a:t>
            </a:r>
            <a:endParaRPr lang="en-US" dirty="0">
              <a:solidFill>
                <a:srgbClr val="E2AC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Thu </a:t>
            </a:r>
            <a:r>
              <a:rPr lang="en-US" dirty="0" err="1"/>
              <a:t>hút</a:t>
            </a:r>
            <a:r>
              <a:rPr lang="en-US" dirty="0"/>
              <a:t> </a:t>
            </a:r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chú</a:t>
            </a:r>
            <a:r>
              <a:rPr lang="en-US" dirty="0"/>
              <a:t> ý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nghe</a:t>
            </a:r>
            <a:endParaRPr lang="vi-VN" dirty="0"/>
          </a:p>
          <a:p>
            <a:pPr marL="1371600" lvl="2" indent="-457200">
              <a:buFont typeface="Times New Roman" panose="02020603050405020304" pitchFamily="18" charset="0"/>
              <a:buChar char="‾"/>
            </a:pPr>
            <a:r>
              <a:rPr lang="en-US" sz="3200" dirty="0"/>
              <a:t> </a:t>
            </a:r>
            <a:r>
              <a:rPr lang="en-US" sz="3200" dirty="0">
                <a:hlinkClick r:id="rId2" action="ppaction://hlinksldjump"/>
              </a:rPr>
              <a:t>Sử </a:t>
            </a:r>
            <a:r>
              <a:rPr lang="en-US" sz="3200" dirty="0" err="1">
                <a:hlinkClick r:id="rId2" action="ppaction://hlinksldjump"/>
              </a:rPr>
              <a:t>dụng</a:t>
            </a:r>
            <a:r>
              <a:rPr lang="en-US" sz="3200" dirty="0">
                <a:hlinkClick r:id="rId2" action="ppaction://hlinksldjump"/>
              </a:rPr>
              <a:t> </a:t>
            </a:r>
            <a:r>
              <a:rPr lang="en-US" sz="3200" dirty="0" err="1">
                <a:hlinkClick r:id="rId2" action="ppaction://hlinksldjump"/>
              </a:rPr>
              <a:t>một</a:t>
            </a:r>
            <a:r>
              <a:rPr lang="en-US" sz="3200" dirty="0">
                <a:hlinkClick r:id="rId2" action="ppaction://hlinksldjump"/>
              </a:rPr>
              <a:t> </a:t>
            </a:r>
            <a:r>
              <a:rPr lang="en-US" sz="3200" dirty="0" err="1">
                <a:hlinkClick r:id="rId2" action="ppaction://hlinksldjump"/>
              </a:rPr>
              <a:t>đoạn</a:t>
            </a:r>
            <a:r>
              <a:rPr lang="en-US" sz="3200" dirty="0">
                <a:hlinkClick r:id="rId2" action="ppaction://hlinksldjump"/>
              </a:rPr>
              <a:t> </a:t>
            </a:r>
            <a:r>
              <a:rPr lang="en-US" sz="3200" dirty="0" err="1">
                <a:hlinkClick r:id="rId2" action="ppaction://hlinksldjump"/>
              </a:rPr>
              <a:t>trích</a:t>
            </a:r>
            <a:r>
              <a:rPr lang="en-US" sz="3200" dirty="0">
                <a:hlinkClick r:id="rId2" action="ppaction://hlinksldjump"/>
              </a:rPr>
              <a:t> </a:t>
            </a:r>
            <a:r>
              <a:rPr lang="en-US" sz="3200" dirty="0" err="1">
                <a:hlinkClick r:id="rId2" action="ppaction://hlinksldjump"/>
              </a:rPr>
              <a:t>dẫn</a:t>
            </a:r>
            <a:endParaRPr lang="vi-VN" sz="3200" dirty="0"/>
          </a:p>
          <a:p>
            <a:pPr marL="1371600" lvl="2" indent="-457200">
              <a:buFont typeface="Times New Roman" panose="02020603050405020304" pitchFamily="18" charset="0"/>
              <a:buChar char="‾"/>
            </a:pPr>
            <a:r>
              <a:rPr lang="vi-VN" sz="3200" dirty="0"/>
              <a:t> </a:t>
            </a:r>
            <a:r>
              <a:rPr lang="en-US" sz="3200" dirty="0" err="1"/>
              <a:t>Một</a:t>
            </a:r>
            <a:r>
              <a:rPr lang="en-US" sz="3200" dirty="0"/>
              <a:t> </a:t>
            </a:r>
            <a:r>
              <a:rPr lang="en-US" sz="3200" dirty="0" err="1"/>
              <a:t>câu</a:t>
            </a:r>
            <a:r>
              <a:rPr lang="en-US" sz="3200" dirty="0"/>
              <a:t> </a:t>
            </a:r>
            <a:r>
              <a:rPr lang="en-US" sz="3200" dirty="0" err="1"/>
              <a:t>hỏi</a:t>
            </a:r>
            <a:endParaRPr lang="vi-VN" sz="3200" dirty="0"/>
          </a:p>
          <a:p>
            <a:pPr marL="1371600" lvl="2" indent="-457200">
              <a:buFont typeface="Times New Roman" panose="02020603050405020304" pitchFamily="18" charset="0"/>
              <a:buChar char="‾"/>
            </a:pPr>
            <a:r>
              <a:rPr lang="vi-VN" sz="3200" dirty="0"/>
              <a:t> </a:t>
            </a:r>
            <a:r>
              <a:rPr lang="en-US" sz="3200" dirty="0" err="1"/>
              <a:t>Một</a:t>
            </a:r>
            <a:r>
              <a:rPr lang="en-US" sz="3200" dirty="0"/>
              <a:t> </a:t>
            </a:r>
            <a:r>
              <a:rPr lang="en-US" sz="3200" dirty="0" err="1"/>
              <a:t>lời</a:t>
            </a:r>
            <a:r>
              <a:rPr lang="en-US" sz="3200" dirty="0"/>
              <a:t> </a:t>
            </a:r>
            <a:r>
              <a:rPr lang="en-US" sz="3200" dirty="0" err="1"/>
              <a:t>hứa</a:t>
            </a:r>
            <a:endParaRPr lang="vi-VN" sz="3200" dirty="0"/>
          </a:p>
          <a:p>
            <a:pPr marL="1371600" lvl="2" indent="-457200">
              <a:buFont typeface="Times New Roman" panose="02020603050405020304" pitchFamily="18" charset="0"/>
              <a:buChar char="‾"/>
            </a:pPr>
            <a:r>
              <a:rPr lang="vi-VN" sz="3200" dirty="0"/>
              <a:t> </a:t>
            </a:r>
            <a:r>
              <a:rPr lang="en-US" sz="3200" dirty="0" err="1"/>
              <a:t>Thậm</a:t>
            </a:r>
            <a:r>
              <a:rPr lang="en-US" sz="3200" dirty="0"/>
              <a:t> </a:t>
            </a:r>
            <a:r>
              <a:rPr lang="en-US" sz="3200" dirty="0" err="1"/>
              <a:t>chí</a:t>
            </a:r>
            <a:r>
              <a:rPr lang="en-US" sz="3200" dirty="0"/>
              <a:t> </a:t>
            </a:r>
            <a:r>
              <a:rPr lang="en-US" sz="3200" dirty="0" err="1"/>
              <a:t>làm</a:t>
            </a:r>
            <a:r>
              <a:rPr lang="en-US" sz="3200" dirty="0"/>
              <a:t> </a:t>
            </a:r>
            <a:r>
              <a:rPr lang="en-US" sz="3200" dirty="0" err="1"/>
              <a:t>mọi</a:t>
            </a:r>
            <a:r>
              <a:rPr lang="en-US" sz="3200" dirty="0"/>
              <a:t> </a:t>
            </a:r>
            <a:r>
              <a:rPr lang="en-US" sz="3200" dirty="0" err="1"/>
              <a:t>người</a:t>
            </a:r>
            <a:r>
              <a:rPr lang="en-US" sz="3200" dirty="0"/>
              <a:t> </a:t>
            </a:r>
            <a:r>
              <a:rPr lang="en-US" sz="3200" dirty="0" err="1"/>
              <a:t>phải</a:t>
            </a:r>
            <a:r>
              <a:rPr lang="en-US" sz="3200" dirty="0"/>
              <a:t> </a:t>
            </a:r>
            <a:r>
              <a:rPr lang="en-US" sz="3200" dirty="0" err="1"/>
              <a:t>hoạt</a:t>
            </a:r>
            <a:r>
              <a:rPr lang="en-US" sz="3200" dirty="0"/>
              <a:t> </a:t>
            </a:r>
            <a:r>
              <a:rPr lang="vi-VN" sz="3200" dirty="0"/>
              <a:t>động</a:t>
            </a:r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US" dirty="0" err="1"/>
              <a:t>Tóm</a:t>
            </a:r>
            <a:r>
              <a:rPr lang="en-US" dirty="0"/>
              <a:t> </a:t>
            </a:r>
            <a:r>
              <a:rPr lang="en-US" dirty="0" err="1"/>
              <a:t>lược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quan</a:t>
            </a:r>
            <a:endParaRPr lang="vi-VN" dirty="0"/>
          </a:p>
          <a:p>
            <a:pPr marL="1371600" lvl="2" indent="-457200">
              <a:buFont typeface="Times New Roman" panose="02020603050405020304" pitchFamily="18" charset="0"/>
              <a:buChar char="‾"/>
            </a:pPr>
            <a:r>
              <a:rPr lang="en-US" sz="3200" dirty="0"/>
              <a:t> </a:t>
            </a:r>
            <a:r>
              <a:rPr lang="en-US" sz="3200" dirty="0" err="1"/>
              <a:t>Đã</a:t>
            </a:r>
            <a:r>
              <a:rPr lang="en-US" sz="3200" dirty="0"/>
              <a:t> </a:t>
            </a:r>
            <a:r>
              <a:rPr lang="en-US" sz="3200" dirty="0" err="1"/>
              <a:t>được</a:t>
            </a:r>
            <a:r>
              <a:rPr lang="en-US" sz="3200" dirty="0"/>
              <a:t> </a:t>
            </a:r>
            <a:r>
              <a:rPr lang="en-US" sz="3200" dirty="0" err="1"/>
              <a:t>trình</a:t>
            </a:r>
            <a:r>
              <a:rPr lang="en-US" sz="3200" dirty="0"/>
              <a:t> </a:t>
            </a:r>
            <a:r>
              <a:rPr lang="en-US" sz="3200" dirty="0" err="1"/>
              <a:t>bày</a:t>
            </a:r>
            <a:endParaRPr lang="vi-VN" sz="3200" dirty="0"/>
          </a:p>
          <a:p>
            <a:pPr marL="1371600" lvl="2" indent="-457200">
              <a:buFont typeface="Times New Roman" panose="02020603050405020304" pitchFamily="18" charset="0"/>
              <a:buChar char="‾"/>
            </a:pPr>
            <a:r>
              <a:rPr lang="vi-VN" sz="3200" dirty="0"/>
              <a:t> </a:t>
            </a:r>
            <a:r>
              <a:rPr lang="en-US" sz="3200" dirty="0" err="1"/>
              <a:t>Được</a:t>
            </a:r>
            <a:r>
              <a:rPr lang="en-US" sz="3200" dirty="0"/>
              <a:t> </a:t>
            </a:r>
            <a:r>
              <a:rPr lang="en-US" sz="3200" dirty="0" err="1"/>
              <a:t>đa</a:t>
            </a:r>
            <a:r>
              <a:rPr lang="en-US" sz="3200" dirty="0"/>
              <a:t> </a:t>
            </a:r>
            <a:r>
              <a:rPr lang="en-US" sz="3200" dirty="0" err="1"/>
              <a:t>số</a:t>
            </a:r>
            <a:r>
              <a:rPr lang="en-US" sz="3200" dirty="0"/>
              <a:t> </a:t>
            </a:r>
            <a:r>
              <a:rPr lang="en-US" sz="3200" dirty="0" err="1"/>
              <a:t>người</a:t>
            </a:r>
            <a:r>
              <a:rPr lang="en-US" sz="3200" dirty="0"/>
              <a:t> </a:t>
            </a:r>
            <a:r>
              <a:rPr lang="en-US" sz="3200" dirty="0" err="1"/>
              <a:t>nghe</a:t>
            </a:r>
            <a:r>
              <a:rPr lang="en-US" sz="3200" dirty="0"/>
              <a:t> </a:t>
            </a:r>
            <a:r>
              <a:rPr lang="en-US" sz="3200" dirty="0" err="1"/>
              <a:t>biết</a:t>
            </a:r>
            <a:r>
              <a:rPr lang="en-US" sz="3200" dirty="0"/>
              <a:t> </a:t>
            </a:r>
            <a:r>
              <a:rPr lang="en-US" sz="3200" dirty="0" err="1"/>
              <a:t>rõ</a:t>
            </a:r>
            <a:endParaRPr lang="en-US" sz="3200" dirty="0"/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endParaRPr lang="vi-VN" dirty="0"/>
          </a:p>
          <a:p>
            <a:endParaRPr lang="vi-VN" dirty="0"/>
          </a:p>
          <a:p>
            <a:pPr marL="342900" indent="-342900"/>
            <a:endParaRPr lang="vi-VN" dirty="0"/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22057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>
                <a:solidFill>
                  <a:srgbClr val="E2AC00"/>
                </a:solidFill>
              </a:rPr>
              <a:t>PHẦN CHÍNH</a:t>
            </a:r>
            <a:endParaRPr lang="en-US" dirty="0">
              <a:solidFill>
                <a:srgbClr val="E2AC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/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</a:t>
            </a:r>
            <a:endParaRPr lang="vi-VN" dirty="0"/>
          </a:p>
          <a:p>
            <a:pPr marL="1371600" lvl="2" indent="-457200">
              <a:buFont typeface="Times New Roman" panose="02020603050405020304" pitchFamily="18" charset="0"/>
              <a:buChar char="‾"/>
            </a:pPr>
            <a:r>
              <a:rPr lang="en-US" sz="3200" dirty="0"/>
              <a:t> </a:t>
            </a:r>
            <a:r>
              <a:rPr lang="en-US" sz="3200" dirty="0" err="1"/>
              <a:t>Vấn</a:t>
            </a:r>
            <a:r>
              <a:rPr lang="en-US" sz="3200" dirty="0"/>
              <a:t> </a:t>
            </a:r>
            <a:r>
              <a:rPr lang="en-US" sz="3200" dirty="0" err="1"/>
              <a:t>đề</a:t>
            </a:r>
            <a:r>
              <a:rPr lang="en-US" sz="3200" dirty="0"/>
              <a:t> </a:t>
            </a:r>
            <a:r>
              <a:rPr lang="en-US" sz="3200" dirty="0" err="1"/>
              <a:t>cần</a:t>
            </a:r>
            <a:r>
              <a:rPr lang="en-US" sz="3200" dirty="0"/>
              <a:t> </a:t>
            </a:r>
            <a:r>
              <a:rPr lang="en-US" sz="3200" dirty="0" err="1"/>
              <a:t>giải</a:t>
            </a:r>
            <a:r>
              <a:rPr lang="en-US" sz="3200" dirty="0"/>
              <a:t> </a:t>
            </a:r>
            <a:r>
              <a:rPr lang="en-US" sz="3200" dirty="0" err="1"/>
              <a:t>quyết</a:t>
            </a:r>
            <a:r>
              <a:rPr lang="en-US" sz="3200" dirty="0"/>
              <a:t>, </a:t>
            </a:r>
            <a:r>
              <a:rPr lang="en-US" sz="3200" dirty="0" err="1"/>
              <a:t>yêu</a:t>
            </a:r>
            <a:r>
              <a:rPr lang="vi-VN" sz="3200" dirty="0"/>
              <a:t> cầu công việc</a:t>
            </a:r>
          </a:p>
          <a:p>
            <a:pPr marL="1371600" lvl="2" indent="-457200">
              <a:lnSpc>
                <a:spcPct val="100000"/>
              </a:lnSpc>
              <a:spcBef>
                <a:spcPts val="0"/>
              </a:spcBef>
              <a:buFont typeface="Times New Roman" panose="02020603050405020304" pitchFamily="18" charset="0"/>
              <a:buChar char="‾"/>
              <a:defRPr/>
            </a:pPr>
            <a:r>
              <a:rPr lang="en-US" sz="3200" dirty="0"/>
              <a:t>Ý </a:t>
            </a:r>
            <a:r>
              <a:rPr lang="en-US" sz="3200" dirty="0" err="1"/>
              <a:t>tưởng</a:t>
            </a:r>
            <a:r>
              <a:rPr lang="en-US" sz="3200" dirty="0"/>
              <a:t> </a:t>
            </a:r>
            <a:r>
              <a:rPr lang="en-US" sz="3200" dirty="0" err="1"/>
              <a:t>và</a:t>
            </a:r>
            <a:r>
              <a:rPr lang="en-US" sz="3200" dirty="0"/>
              <a:t> </a:t>
            </a:r>
            <a:r>
              <a:rPr lang="en-US" sz="3200" dirty="0" err="1"/>
              <a:t>giải</a:t>
            </a:r>
            <a:r>
              <a:rPr lang="en-US" sz="3200" dirty="0"/>
              <a:t> </a:t>
            </a:r>
            <a:r>
              <a:rPr lang="en-US" sz="3200" dirty="0" err="1"/>
              <a:t>pháp</a:t>
            </a:r>
            <a:endParaRPr lang="vi-VN" sz="3200" dirty="0"/>
          </a:p>
          <a:p>
            <a:pPr marL="1371600" lvl="2" indent="-457200">
              <a:lnSpc>
                <a:spcPct val="100000"/>
              </a:lnSpc>
              <a:spcBef>
                <a:spcPts val="0"/>
              </a:spcBef>
              <a:buFont typeface="Times New Roman" panose="02020603050405020304" pitchFamily="18" charset="0"/>
              <a:buChar char="‾"/>
              <a:defRPr/>
            </a:pPr>
            <a:r>
              <a:rPr lang="en-US" sz="3200" dirty="0">
                <a:hlinkClick r:id="rId2" action="ppaction://hlinksldjump"/>
              </a:rPr>
              <a:t>Cung </a:t>
            </a:r>
            <a:r>
              <a:rPr lang="en-US" sz="3200" dirty="0" err="1">
                <a:hlinkClick r:id="rId2" action="ppaction://hlinksldjump"/>
              </a:rPr>
              <a:t>cấp</a:t>
            </a:r>
            <a:r>
              <a:rPr lang="en-US" sz="3200" dirty="0">
                <a:hlinkClick r:id="rId2" action="ppaction://hlinksldjump"/>
              </a:rPr>
              <a:t> </a:t>
            </a:r>
            <a:r>
              <a:rPr lang="en-US" sz="3200" dirty="0" err="1">
                <a:hlinkClick r:id="rId2" action="ppaction://hlinksldjump"/>
              </a:rPr>
              <a:t>ví</a:t>
            </a:r>
            <a:r>
              <a:rPr lang="en-US" sz="3200" dirty="0">
                <a:hlinkClick r:id="rId2" action="ppaction://hlinksldjump"/>
              </a:rPr>
              <a:t> </a:t>
            </a:r>
            <a:r>
              <a:rPr lang="en-US" sz="3200" dirty="0" err="1">
                <a:hlinkClick r:id="rId2" action="ppaction://hlinksldjump"/>
              </a:rPr>
              <a:t>dụ</a:t>
            </a:r>
            <a:r>
              <a:rPr lang="en-US" sz="3200" dirty="0">
                <a:hlinkClick r:id="rId2" action="ppaction://hlinksldjump"/>
              </a:rPr>
              <a:t> </a:t>
            </a:r>
            <a:r>
              <a:rPr lang="en-US" sz="3200" dirty="0" err="1">
                <a:hlinkClick r:id="rId2" action="ppaction://hlinksldjump"/>
              </a:rPr>
              <a:t>để</a:t>
            </a:r>
            <a:r>
              <a:rPr lang="en-US" sz="3200" dirty="0">
                <a:hlinkClick r:id="rId2" action="ppaction://hlinksldjump"/>
              </a:rPr>
              <a:t> </a:t>
            </a:r>
            <a:r>
              <a:rPr lang="en-US" sz="3200" dirty="0" err="1">
                <a:hlinkClick r:id="rId2" action="ppaction://hlinksldjump"/>
              </a:rPr>
              <a:t>chứng</a:t>
            </a:r>
            <a:r>
              <a:rPr lang="en-US" sz="3200" dirty="0">
                <a:hlinkClick r:id="rId2" action="ppaction://hlinksldjump"/>
              </a:rPr>
              <a:t> minh</a:t>
            </a:r>
            <a:endParaRPr lang="vi-VN" sz="3200" dirty="0"/>
          </a:p>
          <a:p>
            <a:pPr marL="1371600" lvl="2" indent="-457200">
              <a:lnSpc>
                <a:spcPct val="100000"/>
              </a:lnSpc>
              <a:spcBef>
                <a:spcPts val="0"/>
              </a:spcBef>
              <a:buFont typeface="Times New Roman" panose="02020603050405020304" pitchFamily="18" charset="0"/>
              <a:buChar char="‾"/>
              <a:defRPr/>
            </a:pPr>
            <a:r>
              <a:rPr lang="en-US" sz="3200" dirty="0" err="1"/>
              <a:t>Lợi</a:t>
            </a:r>
            <a:r>
              <a:rPr lang="en-US" sz="3200" dirty="0"/>
              <a:t> </a:t>
            </a:r>
            <a:r>
              <a:rPr lang="en-US" sz="3200" dirty="0" err="1"/>
              <a:t>ích</a:t>
            </a:r>
            <a:r>
              <a:rPr lang="en-US" sz="3200" dirty="0"/>
              <a:t> </a:t>
            </a:r>
            <a:r>
              <a:rPr lang="en-US" sz="3200" dirty="0" err="1"/>
              <a:t>khi</a:t>
            </a:r>
            <a:r>
              <a:rPr lang="en-US" sz="3200" dirty="0"/>
              <a:t> </a:t>
            </a:r>
            <a:r>
              <a:rPr lang="en-US" sz="3200" dirty="0" err="1"/>
              <a:t>áp</a:t>
            </a:r>
            <a:r>
              <a:rPr lang="en-US" sz="3200" dirty="0"/>
              <a:t> </a:t>
            </a:r>
            <a:r>
              <a:rPr lang="en-US" sz="3200" dirty="0" err="1"/>
              <a:t>dụng</a:t>
            </a:r>
            <a:r>
              <a:rPr lang="en-US" sz="3200" dirty="0"/>
              <a:t> </a:t>
            </a:r>
            <a:r>
              <a:rPr lang="en-US" sz="3200" dirty="0" err="1"/>
              <a:t>giải</a:t>
            </a:r>
            <a:r>
              <a:rPr lang="en-US" sz="3200" dirty="0"/>
              <a:t> </a:t>
            </a:r>
            <a:r>
              <a:rPr lang="en-US" sz="3200" dirty="0" err="1"/>
              <a:t>pháp</a:t>
            </a:r>
            <a:endParaRPr lang="vi-VN" sz="3200" dirty="0"/>
          </a:p>
          <a:p>
            <a:pPr marL="1371600" lvl="2" indent="-457200">
              <a:lnSpc>
                <a:spcPct val="100000"/>
              </a:lnSpc>
              <a:spcBef>
                <a:spcPts val="0"/>
              </a:spcBef>
              <a:buFont typeface="Times New Roman" panose="02020603050405020304" pitchFamily="18" charset="0"/>
              <a:buChar char="‾"/>
              <a:defRPr/>
            </a:pPr>
            <a:r>
              <a:rPr lang="en-US" sz="3200" dirty="0"/>
              <a:t> </a:t>
            </a:r>
            <a:r>
              <a:rPr lang="en-US" sz="3200" dirty="0" err="1"/>
              <a:t>Chương</a:t>
            </a:r>
            <a:r>
              <a:rPr lang="en-US" sz="3200" dirty="0"/>
              <a:t> </a:t>
            </a:r>
            <a:r>
              <a:rPr lang="en-US" sz="3200" dirty="0" err="1"/>
              <a:t>trình</a:t>
            </a:r>
            <a:r>
              <a:rPr lang="en-US" sz="3200" dirty="0"/>
              <a:t> </a:t>
            </a:r>
            <a:r>
              <a:rPr lang="en-US" sz="3200" dirty="0" err="1"/>
              <a:t>hành</a:t>
            </a:r>
            <a:r>
              <a:rPr lang="en-US" sz="3200" dirty="0"/>
              <a:t> </a:t>
            </a:r>
            <a:r>
              <a:rPr lang="en-US" sz="3200" dirty="0" err="1"/>
              <a:t>động</a:t>
            </a:r>
            <a:r>
              <a:rPr lang="en-US" sz="3200" dirty="0"/>
              <a:t>/</a:t>
            </a:r>
            <a:r>
              <a:rPr lang="en-US" sz="3200" dirty="0" err="1"/>
              <a:t>các</a:t>
            </a:r>
            <a:r>
              <a:rPr lang="en-US" sz="3200" dirty="0"/>
              <a:t> </a:t>
            </a:r>
            <a:r>
              <a:rPr lang="en-US" sz="3200" dirty="0" err="1"/>
              <a:t>việc</a:t>
            </a:r>
            <a:r>
              <a:rPr lang="en-US" sz="3200" dirty="0"/>
              <a:t> </a:t>
            </a:r>
            <a:r>
              <a:rPr lang="en-US" sz="3200" dirty="0" err="1"/>
              <a:t>làm</a:t>
            </a:r>
            <a:r>
              <a:rPr lang="en-US" sz="3200" dirty="0"/>
              <a:t> </a:t>
            </a:r>
            <a:r>
              <a:rPr lang="en-US" sz="3200" dirty="0" err="1"/>
              <a:t>cụ</a:t>
            </a:r>
            <a:r>
              <a:rPr lang="en-US" sz="3200" dirty="0"/>
              <a:t> </a:t>
            </a:r>
            <a:r>
              <a:rPr lang="en-US" sz="3200" dirty="0" err="1"/>
              <a:t>thể</a:t>
            </a:r>
            <a:r>
              <a:rPr lang="vi-VN" sz="3200" dirty="0"/>
              <a:t> </a:t>
            </a:r>
            <a:endParaRPr lang="en-US" sz="3200" dirty="0"/>
          </a:p>
          <a:p>
            <a:pPr marL="342900" indent="-342900"/>
            <a:endParaRPr lang="vi-VN" dirty="0"/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0973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>
                <a:solidFill>
                  <a:srgbClr val="E2AC00"/>
                </a:solidFill>
              </a:rPr>
              <a:t>Phần kết</a:t>
            </a:r>
            <a:endParaRPr lang="en-US" dirty="0">
              <a:solidFill>
                <a:srgbClr val="E2AC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/>
            <a:r>
              <a:rPr lang="vi-VN" dirty="0"/>
              <a:t>Tóm tắt</a:t>
            </a:r>
          </a:p>
          <a:p>
            <a:pPr marL="342900" indent="-342900"/>
            <a:r>
              <a:rPr lang="vi-VN" dirty="0"/>
              <a:t> Kết luận cuối cùng</a:t>
            </a:r>
          </a:p>
          <a:p>
            <a:pPr lvl="2">
              <a:buFont typeface="Times New Roman" panose="02020603050405020304" pitchFamily="18" charset="0"/>
              <a:buChar char="‾"/>
            </a:pPr>
            <a:r>
              <a:rPr lang="vi-VN" sz="3200" dirty="0"/>
              <a:t> Liệu còn điều gì bạn muốn người nghe ghi nhớ?</a:t>
            </a:r>
            <a:endParaRPr lang="en-US" sz="32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5589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vi-VN" dirty="0"/>
              <a:t>Cảm ơn sự chú ý của quý vị 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70879"/>
            <a:ext cx="10515600" cy="1500187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981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>
                <a:solidFill>
                  <a:srgbClr val="E2AC00"/>
                </a:solidFill>
              </a:rPr>
              <a:t>Ví dụ: sử dụng một đoạn trích dẫn khi giới thiệu</a:t>
            </a:r>
            <a:endParaRPr lang="en-US" dirty="0">
              <a:solidFill>
                <a:srgbClr val="E2AC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: Ta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biểu</a:t>
            </a:r>
            <a:r>
              <a:rPr lang="en-US" dirty="0"/>
              <a:t> </a:t>
            </a:r>
            <a:r>
              <a:rPr lang="en-US" dirty="0" err="1"/>
              <a:t>trích</a:t>
            </a:r>
            <a:r>
              <a:rPr lang="en-US" dirty="0"/>
              <a:t> </a:t>
            </a:r>
            <a:r>
              <a:rPr lang="en-US" dirty="0" err="1"/>
              <a:t>dẫn</a:t>
            </a:r>
            <a:r>
              <a:rPr lang="en-US" dirty="0"/>
              <a:t> </a:t>
            </a:r>
            <a:r>
              <a:rPr lang="en-US" dirty="0" err="1"/>
              <a:t>lợi</a:t>
            </a:r>
            <a:r>
              <a:rPr lang="en-US" dirty="0"/>
              <a:t> </a:t>
            </a:r>
            <a:r>
              <a:rPr lang="en-US" dirty="0" err="1"/>
              <a:t>ích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ngànhcông</a:t>
            </a:r>
            <a:r>
              <a:rPr lang="en-US" dirty="0"/>
              <a:t> </a:t>
            </a:r>
            <a:r>
              <a:rPr lang="en-US" dirty="0" err="1"/>
              <a:t>nghệ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</a:t>
            </a:r>
          </a:p>
          <a:p>
            <a:r>
              <a:rPr lang="en-US" dirty="0"/>
              <a:t>	“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năm</a:t>
            </a:r>
            <a:r>
              <a:rPr lang="en-US" dirty="0"/>
              <a:t>,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nghệ</a:t>
            </a:r>
            <a:r>
              <a:rPr lang="en-US" dirty="0"/>
              <a:t> </a:t>
            </a:r>
            <a:r>
              <a:rPr lang="en-US" dirty="0" err="1"/>
              <a:t>mới</a:t>
            </a:r>
            <a:r>
              <a:rPr lang="en-US" dirty="0"/>
              <a:t> </a:t>
            </a:r>
            <a:r>
              <a:rPr lang="en-US" dirty="0" err="1"/>
              <a:t>luôn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triển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vi-VN" dirty="0"/>
              <a:t> </a:t>
            </a:r>
            <a:r>
              <a:rPr lang="en-US" dirty="0" err="1"/>
              <a:t>thể</a:t>
            </a:r>
            <a:r>
              <a:rPr lang="vi-VN" dirty="0"/>
              <a:t> 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tầm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trọng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nó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cuộc</a:t>
            </a:r>
            <a:r>
              <a:rPr lang="en-US" dirty="0"/>
              <a:t> </a:t>
            </a:r>
            <a:r>
              <a:rPr lang="en-US" dirty="0" err="1"/>
              <a:t>sống</a:t>
            </a:r>
            <a:r>
              <a:rPr lang="en-US" dirty="0"/>
              <a:t>.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doanh</a:t>
            </a:r>
            <a:r>
              <a:rPr lang="vi-VN" dirty="0"/>
              <a:t> </a:t>
            </a:r>
            <a:r>
              <a:rPr lang="en-US" dirty="0" err="1"/>
              <a:t>nghiệp</a:t>
            </a:r>
            <a:r>
              <a:rPr lang="en-US" dirty="0"/>
              <a:t> </a:t>
            </a:r>
            <a:r>
              <a:rPr lang="en-US" dirty="0" err="1"/>
              <a:t>cũng</a:t>
            </a:r>
            <a:r>
              <a:rPr lang="en-US" dirty="0"/>
              <a:t> </a:t>
            </a:r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hướng</a:t>
            </a:r>
            <a:r>
              <a:rPr lang="en-US" dirty="0"/>
              <a:t> </a:t>
            </a:r>
            <a:r>
              <a:rPr lang="en-US" dirty="0" err="1"/>
              <a:t>cập</a:t>
            </a:r>
            <a:r>
              <a:rPr lang="en-US" dirty="0"/>
              <a:t> </a:t>
            </a:r>
            <a:r>
              <a:rPr lang="en-US" dirty="0" err="1"/>
              <a:t>nhật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nghệ</a:t>
            </a:r>
            <a:r>
              <a:rPr lang="en-US" dirty="0"/>
              <a:t> </a:t>
            </a:r>
            <a:r>
              <a:rPr lang="en-US" dirty="0" err="1"/>
              <a:t>thôngtin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yêu</a:t>
            </a:r>
            <a:r>
              <a:rPr lang="en-US" dirty="0"/>
              <a:t> </a:t>
            </a:r>
            <a:r>
              <a:rPr lang="en-US" dirty="0" err="1"/>
              <a:t>cầu</a:t>
            </a:r>
            <a:r>
              <a:rPr lang="en-US" dirty="0"/>
              <a:t> </a:t>
            </a:r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giỏi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nghệ</a:t>
            </a:r>
            <a:r>
              <a:rPr lang="en-US" dirty="0"/>
              <a:t>. </a:t>
            </a:r>
            <a:r>
              <a:rPr lang="en-US" dirty="0" err="1"/>
              <a:t>Ngành</a:t>
            </a:r>
            <a:r>
              <a:rPr lang="vi-VN" dirty="0"/>
              <a:t> </a:t>
            </a:r>
            <a:r>
              <a:rPr lang="en-US" dirty="0" err="1"/>
              <a:t>học</a:t>
            </a:r>
            <a:r>
              <a:rPr lang="en-US" dirty="0"/>
              <a:t> CNTT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coi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lĩnh</a:t>
            </a:r>
            <a:r>
              <a:rPr lang="en-US" dirty="0"/>
              <a:t> </a:t>
            </a:r>
            <a:r>
              <a:rPr lang="en-US" dirty="0" err="1"/>
              <a:t>vực</a:t>
            </a:r>
            <a:r>
              <a:rPr lang="en-US" dirty="0"/>
              <a:t> </a:t>
            </a:r>
            <a:r>
              <a:rPr lang="en-US" dirty="0" err="1"/>
              <a:t>ngày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triển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trở</a:t>
            </a:r>
            <a:r>
              <a:rPr lang="vi-VN" dirty="0"/>
              <a:t> </a:t>
            </a:r>
            <a:r>
              <a:rPr lang="en-US" dirty="0" err="1"/>
              <a:t>nên</a:t>
            </a:r>
            <a:r>
              <a:rPr lang="en-US" dirty="0"/>
              <a:t> </a:t>
            </a:r>
            <a:r>
              <a:rPr lang="en-US" dirty="0" err="1"/>
              <a:t>hữu</a:t>
            </a:r>
            <a:r>
              <a:rPr lang="en-US" dirty="0"/>
              <a:t> </a:t>
            </a:r>
            <a:r>
              <a:rPr lang="en-US" dirty="0" err="1"/>
              <a:t>ích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bạn</a:t>
            </a:r>
            <a:r>
              <a:rPr lang="en-US" dirty="0"/>
              <a:t> </a:t>
            </a:r>
            <a:r>
              <a:rPr lang="en-US" dirty="0" err="1"/>
              <a:t>muốn</a:t>
            </a:r>
            <a:r>
              <a:rPr lang="en-US" dirty="0"/>
              <a:t> </a:t>
            </a:r>
            <a:r>
              <a:rPr lang="en-US" dirty="0" err="1"/>
              <a:t>xây</a:t>
            </a:r>
            <a:r>
              <a:rPr lang="en-US" dirty="0"/>
              <a:t> </a:t>
            </a:r>
            <a:r>
              <a:rPr lang="en-US" dirty="0" err="1"/>
              <a:t>dựng</a:t>
            </a:r>
            <a:r>
              <a:rPr lang="en-US" dirty="0"/>
              <a:t> </a:t>
            </a:r>
            <a:r>
              <a:rPr lang="en-US" dirty="0" err="1"/>
              <a:t>sự</a:t>
            </a:r>
            <a:r>
              <a:rPr lang="en-US" dirty="0"/>
              <a:t> </a:t>
            </a:r>
            <a:r>
              <a:rPr lang="vi-VN" dirty="0"/>
              <a:t>ng</a:t>
            </a:r>
            <a:r>
              <a:rPr lang="en-US" dirty="0" err="1"/>
              <a:t>hiệp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ngành</a:t>
            </a:r>
            <a:r>
              <a:rPr lang="vi-VN" dirty="0"/>
              <a:t> </a:t>
            </a:r>
            <a:r>
              <a:rPr lang="en-US" dirty="0" err="1"/>
              <a:t>này</a:t>
            </a:r>
            <a:r>
              <a:rPr lang="en-US" dirty="0"/>
              <a:t>. </a:t>
            </a:r>
            <a:r>
              <a:rPr lang="en-US" dirty="0" err="1"/>
              <a:t>Vậy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lợi</a:t>
            </a:r>
            <a:r>
              <a:rPr lang="en-US" dirty="0"/>
              <a:t> </a:t>
            </a:r>
            <a:r>
              <a:rPr lang="en-US" dirty="0" err="1"/>
              <a:t>ích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ngành</a:t>
            </a:r>
            <a:r>
              <a:rPr lang="en-US" dirty="0"/>
              <a:t> CNTT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gì</a:t>
            </a:r>
            <a:r>
              <a:rPr lang="en-US" dirty="0"/>
              <a:t>?"</a:t>
            </a:r>
          </a:p>
          <a:p>
            <a:pPr marL="342900" indent="-342900"/>
            <a:endParaRPr lang="en-US" dirty="0"/>
          </a:p>
          <a:p>
            <a:endParaRPr lang="en-US" dirty="0"/>
          </a:p>
        </p:txBody>
      </p:sp>
      <p:sp>
        <p:nvSpPr>
          <p:cNvPr id="4" name="Action Button: Return 3">
            <a:hlinkClick r:id="rId2" action="ppaction://hlinksldjump" highlightClick="1"/>
          </p:cNvPr>
          <p:cNvSpPr/>
          <p:nvPr/>
        </p:nvSpPr>
        <p:spPr>
          <a:xfrm>
            <a:off x="5522259" y="6176963"/>
            <a:ext cx="1165412" cy="438990"/>
          </a:xfrm>
          <a:prstGeom prst="actionButtonRetur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137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>
                <a:solidFill>
                  <a:srgbClr val="E2AC00"/>
                </a:solidFill>
              </a:rPr>
              <a:t>Ví dụ minh chứng một vấn đề</a:t>
            </a:r>
            <a:endParaRPr lang="en-US" dirty="0">
              <a:solidFill>
                <a:srgbClr val="E2AC00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6242330" cy="823912"/>
          </a:xfrm>
        </p:spPr>
        <p:txBody>
          <a:bodyPr/>
          <a:lstStyle/>
          <a:p>
            <a:pPr lvl="0"/>
            <a:r>
              <a:rPr lang="en-US" smtClean="0"/>
              <a:t>Bảng thống kê kết quả tuyển sinh 2020</a:t>
            </a:r>
          </a:p>
          <a:p>
            <a:endParaRPr lang="en-US" dirty="0"/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507496846"/>
              </p:ext>
            </p:extLst>
          </p:nvPr>
        </p:nvGraphicFramePr>
        <p:xfrm>
          <a:off x="839788" y="2505075"/>
          <a:ext cx="10515600" cy="370208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59960089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80515103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aseline="0" dirty="0" err="1" smtClean="0">
                          <a:latin typeface="Times New Roman" panose="02020603050405020304" pitchFamily="18" charset="0"/>
                        </a:rPr>
                        <a:t>Tên</a:t>
                      </a:r>
                      <a:r>
                        <a:rPr lang="en-US" baseline="0" dirty="0" smtClean="0"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baseline="0" dirty="0" err="1" smtClean="0">
                          <a:latin typeface="Times New Roman" panose="02020603050405020304" pitchFamily="18" charset="0"/>
                        </a:rPr>
                        <a:t>ngành</a:t>
                      </a:r>
                      <a:r>
                        <a:rPr lang="en-US" baseline="0" dirty="0" smtClean="0">
                          <a:latin typeface="Times New Roman" panose="02020603050405020304" pitchFamily="18" charset="0"/>
                        </a:rPr>
                        <a:t>/</a:t>
                      </a:r>
                      <a:r>
                        <a:rPr lang="en-US" baseline="0" dirty="0" err="1" smtClean="0">
                          <a:latin typeface="Times New Roman" panose="02020603050405020304" pitchFamily="18" charset="0"/>
                        </a:rPr>
                        <a:t>chuyên</a:t>
                      </a:r>
                      <a:r>
                        <a:rPr lang="en-US" baseline="0" dirty="0" smtClean="0"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baseline="0" dirty="0" err="1" smtClean="0">
                          <a:latin typeface="Times New Roman" panose="02020603050405020304" pitchFamily="18" charset="0"/>
                        </a:rPr>
                        <a:t>ngành</a:t>
                      </a:r>
                      <a:endParaRPr lang="en-US" baseline="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vi-VN" baseline="0" dirty="0" smtClean="0">
                          <a:latin typeface="Times New Roman" panose="02020603050405020304" pitchFamily="18" charset="0"/>
                        </a:rPr>
                        <a:t>Số lượng tuyển sinh</a:t>
                      </a:r>
                      <a:endParaRPr lang="en-US" baseline="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3439627"/>
                  </a:ext>
                </a:extLst>
              </a:tr>
              <a:tr h="410247">
                <a:tc>
                  <a:txBody>
                    <a:bodyPr/>
                    <a:lstStyle/>
                    <a:p>
                      <a:r>
                        <a:rPr lang="en-US" baseline="0" dirty="0" err="1" smtClean="0">
                          <a:latin typeface="Times New Roman" panose="02020603050405020304" pitchFamily="18" charset="0"/>
                        </a:rPr>
                        <a:t>Công</a:t>
                      </a:r>
                      <a:r>
                        <a:rPr lang="en-US" baseline="0" dirty="0" smtClean="0"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baseline="0" dirty="0" err="1" smtClean="0">
                          <a:latin typeface="Times New Roman" panose="02020603050405020304" pitchFamily="18" charset="0"/>
                        </a:rPr>
                        <a:t>nghệ</a:t>
                      </a:r>
                      <a:r>
                        <a:rPr lang="en-US" baseline="0" dirty="0" smtClean="0"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baseline="0" dirty="0" err="1" smtClean="0">
                          <a:latin typeface="Times New Roman" panose="02020603050405020304" pitchFamily="18" charset="0"/>
                        </a:rPr>
                        <a:t>thông</a:t>
                      </a:r>
                      <a:r>
                        <a:rPr lang="en-US" baseline="0" dirty="0" smtClean="0">
                          <a:latin typeface="Times New Roman" panose="02020603050405020304" pitchFamily="18" charset="0"/>
                        </a:rPr>
                        <a:t> tin</a:t>
                      </a:r>
                      <a:endParaRPr lang="en-US" baseline="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vi-VN" baseline="0" dirty="0" smtClean="0">
                          <a:latin typeface="Times New Roman" panose="02020603050405020304" pitchFamily="18" charset="0"/>
                        </a:rPr>
                        <a:t>277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6639765"/>
                  </a:ext>
                </a:extLst>
              </a:tr>
              <a:tr h="345252">
                <a:tc>
                  <a:txBody>
                    <a:bodyPr/>
                    <a:lstStyle/>
                    <a:p>
                      <a:r>
                        <a:rPr lang="en-US" baseline="0" dirty="0" err="1" smtClean="0">
                          <a:latin typeface="Times New Roman" panose="02020603050405020304" pitchFamily="18" charset="0"/>
                        </a:rPr>
                        <a:t>Công</a:t>
                      </a:r>
                      <a:r>
                        <a:rPr lang="en-US" baseline="0" dirty="0" smtClean="0"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baseline="0" dirty="0" err="1" smtClean="0">
                          <a:latin typeface="Times New Roman" panose="02020603050405020304" pitchFamily="18" charset="0"/>
                        </a:rPr>
                        <a:t>nghệ</a:t>
                      </a:r>
                      <a:r>
                        <a:rPr lang="en-US" baseline="0" dirty="0" smtClean="0"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baseline="0" dirty="0" err="1" smtClean="0">
                          <a:latin typeface="Times New Roman" panose="02020603050405020304" pitchFamily="18" charset="0"/>
                        </a:rPr>
                        <a:t>thông</a:t>
                      </a:r>
                      <a:r>
                        <a:rPr lang="en-US" baseline="0" dirty="0" smtClean="0">
                          <a:latin typeface="Times New Roman" panose="02020603050405020304" pitchFamily="18" charset="0"/>
                        </a:rPr>
                        <a:t> tin - CLC</a:t>
                      </a:r>
                      <a:endParaRPr lang="en-US" baseline="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vi-VN" baseline="0" dirty="0" smtClean="0">
                          <a:latin typeface="Times New Roman" panose="02020603050405020304" pitchFamily="18" charset="0"/>
                        </a:rPr>
                        <a:t>144</a:t>
                      </a:r>
                      <a:endParaRPr lang="en-US" baseline="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3683897"/>
                  </a:ext>
                </a:extLst>
              </a:tr>
              <a:tr h="345252">
                <a:tc>
                  <a:txBody>
                    <a:bodyPr/>
                    <a:lstStyle/>
                    <a:p>
                      <a:r>
                        <a:rPr lang="en-US" baseline="0" dirty="0" err="1" smtClean="0">
                          <a:latin typeface="Times New Roman" panose="02020603050405020304" pitchFamily="18" charset="0"/>
                        </a:rPr>
                        <a:t>Công</a:t>
                      </a:r>
                      <a:r>
                        <a:rPr lang="en-US" baseline="0" dirty="0" smtClean="0"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baseline="0" dirty="0" err="1" smtClean="0">
                          <a:latin typeface="Times New Roman" panose="02020603050405020304" pitchFamily="18" charset="0"/>
                        </a:rPr>
                        <a:t>nghệ</a:t>
                      </a:r>
                      <a:r>
                        <a:rPr lang="en-US" baseline="0" dirty="0" smtClean="0"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baseline="0" dirty="0" err="1" smtClean="0">
                          <a:latin typeface="Times New Roman" panose="02020603050405020304" pitchFamily="18" charset="0"/>
                        </a:rPr>
                        <a:t>thông</a:t>
                      </a:r>
                      <a:r>
                        <a:rPr lang="en-US" baseline="0" dirty="0" smtClean="0">
                          <a:latin typeface="Times New Roman" panose="02020603050405020304" pitchFamily="18" charset="0"/>
                        </a:rPr>
                        <a:t> tin – HA</a:t>
                      </a:r>
                      <a:endParaRPr lang="en-US" baseline="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vi-VN" baseline="0" dirty="0" smtClean="0">
                          <a:latin typeface="Times New Roman" panose="02020603050405020304" pitchFamily="18" charset="0"/>
                        </a:rPr>
                        <a:t>75</a:t>
                      </a:r>
                      <a:endParaRPr lang="en-US" baseline="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2024673"/>
                  </a:ext>
                </a:extLst>
              </a:tr>
              <a:tr h="34525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aseline="0" dirty="0" err="1" smtClean="0">
                          <a:latin typeface="Times New Roman" panose="02020603050405020304" pitchFamily="18" charset="0"/>
                        </a:rPr>
                        <a:t>Mạng</a:t>
                      </a:r>
                      <a:r>
                        <a:rPr lang="en-US" baseline="0" dirty="0" smtClean="0"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baseline="0" dirty="0" err="1" smtClean="0">
                          <a:latin typeface="Times New Roman" panose="02020603050405020304" pitchFamily="18" charset="0"/>
                        </a:rPr>
                        <a:t>máy</a:t>
                      </a:r>
                      <a:r>
                        <a:rPr lang="en-US" baseline="0" dirty="0" smtClean="0"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baseline="0" dirty="0" err="1" smtClean="0">
                          <a:latin typeface="Times New Roman" panose="02020603050405020304" pitchFamily="18" charset="0"/>
                        </a:rPr>
                        <a:t>tính</a:t>
                      </a:r>
                      <a:r>
                        <a:rPr lang="en-US" baseline="0" dirty="0" smtClean="0"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baseline="0" dirty="0" err="1" smtClean="0">
                          <a:latin typeface="Times New Roman" panose="02020603050405020304" pitchFamily="18" charset="0"/>
                        </a:rPr>
                        <a:t>và</a:t>
                      </a:r>
                      <a:r>
                        <a:rPr lang="en-US" baseline="0" dirty="0" smtClean="0"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baseline="0" dirty="0" err="1" smtClean="0">
                          <a:latin typeface="Times New Roman" panose="02020603050405020304" pitchFamily="18" charset="0"/>
                        </a:rPr>
                        <a:t>truyền</a:t>
                      </a:r>
                      <a:r>
                        <a:rPr lang="en-US" baseline="0" dirty="0" smtClean="0"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baseline="0" dirty="0" err="1" smtClean="0">
                          <a:latin typeface="Times New Roman" panose="02020603050405020304" pitchFamily="18" charset="0"/>
                        </a:rPr>
                        <a:t>thông</a:t>
                      </a:r>
                      <a:r>
                        <a:rPr lang="en-US" baseline="0" dirty="0" smtClean="0"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baseline="0" dirty="0" err="1" smtClean="0">
                          <a:latin typeface="Times New Roman" panose="02020603050405020304" pitchFamily="18" charset="0"/>
                        </a:rPr>
                        <a:t>dữ</a:t>
                      </a:r>
                      <a:r>
                        <a:rPr lang="en-US" baseline="0" dirty="0" smtClean="0"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baseline="0" dirty="0" err="1" smtClean="0">
                          <a:latin typeface="Times New Roman" panose="02020603050405020304" pitchFamily="18" charset="0"/>
                        </a:rPr>
                        <a:t>liệu</a:t>
                      </a:r>
                      <a:endParaRPr lang="en-US" baseline="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vi-VN" baseline="0" dirty="0" smtClean="0">
                          <a:latin typeface="Times New Roman" panose="02020603050405020304" pitchFamily="18" charset="0"/>
                        </a:rPr>
                        <a:t>149</a:t>
                      </a:r>
                      <a:endParaRPr lang="en-US" baseline="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0692977"/>
                  </a:ext>
                </a:extLst>
              </a:tr>
              <a:tr h="34525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aseline="0" dirty="0" err="1" smtClean="0">
                          <a:latin typeface="Times New Roman" panose="02020603050405020304" pitchFamily="18" charset="0"/>
                        </a:rPr>
                        <a:t>Kỹ</a:t>
                      </a:r>
                      <a:r>
                        <a:rPr lang="en-US" baseline="0" dirty="0" smtClean="0"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baseline="0" dirty="0" err="1" smtClean="0">
                          <a:latin typeface="Times New Roman" panose="02020603050405020304" pitchFamily="18" charset="0"/>
                        </a:rPr>
                        <a:t>thuật</a:t>
                      </a:r>
                      <a:r>
                        <a:rPr lang="en-US" baseline="0" dirty="0" smtClean="0"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baseline="0" dirty="0" err="1" smtClean="0">
                          <a:latin typeface="Times New Roman" panose="02020603050405020304" pitchFamily="18" charset="0"/>
                        </a:rPr>
                        <a:t>phần</a:t>
                      </a:r>
                      <a:r>
                        <a:rPr lang="en-US" baseline="0" dirty="0" smtClean="0"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baseline="0" dirty="0" err="1" smtClean="0">
                          <a:latin typeface="Times New Roman" panose="02020603050405020304" pitchFamily="18" charset="0"/>
                        </a:rPr>
                        <a:t>mềm</a:t>
                      </a:r>
                      <a:endParaRPr lang="en-US" baseline="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vi-VN" baseline="0" dirty="0" smtClean="0">
                          <a:latin typeface="Times New Roman" panose="02020603050405020304" pitchFamily="18" charset="0"/>
                        </a:rPr>
                        <a:t>266</a:t>
                      </a:r>
                      <a:endParaRPr lang="en-US" baseline="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440953"/>
                  </a:ext>
                </a:extLst>
              </a:tr>
              <a:tr h="34525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aseline="0" dirty="0" err="1" smtClean="0">
                          <a:latin typeface="Times New Roman" panose="02020603050405020304" pitchFamily="18" charset="0"/>
                        </a:rPr>
                        <a:t>Hệ</a:t>
                      </a:r>
                      <a:r>
                        <a:rPr lang="en-US" baseline="0" dirty="0" smtClean="0"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baseline="0" dirty="0" err="1" smtClean="0">
                          <a:latin typeface="Times New Roman" panose="02020603050405020304" pitchFamily="18" charset="0"/>
                        </a:rPr>
                        <a:t>thống</a:t>
                      </a:r>
                      <a:r>
                        <a:rPr lang="en-US" baseline="0" dirty="0" smtClean="0"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baseline="0" dirty="0" err="1" smtClean="0">
                          <a:latin typeface="Times New Roman" panose="02020603050405020304" pitchFamily="18" charset="0"/>
                        </a:rPr>
                        <a:t>thông</a:t>
                      </a:r>
                      <a:r>
                        <a:rPr lang="en-US" baseline="0" dirty="0" smtClean="0">
                          <a:latin typeface="Times New Roman" panose="02020603050405020304" pitchFamily="18" charset="0"/>
                        </a:rPr>
                        <a:t> tin</a:t>
                      </a:r>
                      <a:endParaRPr lang="en-US" baseline="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vi-VN" baseline="0" dirty="0" smtClean="0">
                          <a:latin typeface="Times New Roman" panose="02020603050405020304" pitchFamily="18" charset="0"/>
                        </a:rPr>
                        <a:t>135</a:t>
                      </a:r>
                      <a:endParaRPr lang="en-US" baseline="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022280"/>
                  </a:ext>
                </a:extLst>
              </a:tr>
              <a:tr h="34525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aseline="0" dirty="0" err="1" smtClean="0">
                          <a:latin typeface="Times New Roman" panose="02020603050405020304" pitchFamily="18" charset="0"/>
                        </a:rPr>
                        <a:t>Khoa</a:t>
                      </a:r>
                      <a:r>
                        <a:rPr lang="en-US" baseline="0" dirty="0" smtClean="0"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baseline="0" dirty="0" err="1" smtClean="0">
                          <a:latin typeface="Times New Roman" panose="02020603050405020304" pitchFamily="18" charset="0"/>
                        </a:rPr>
                        <a:t>học</a:t>
                      </a:r>
                      <a:r>
                        <a:rPr lang="en-US" baseline="0" dirty="0" smtClean="0"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baseline="0" dirty="0" err="1" smtClean="0">
                          <a:latin typeface="Times New Roman" panose="02020603050405020304" pitchFamily="18" charset="0"/>
                        </a:rPr>
                        <a:t>máy</a:t>
                      </a:r>
                      <a:r>
                        <a:rPr lang="en-US" baseline="0" dirty="0" smtClean="0"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baseline="0" dirty="0" err="1" smtClean="0">
                          <a:latin typeface="Times New Roman" panose="02020603050405020304" pitchFamily="18" charset="0"/>
                        </a:rPr>
                        <a:t>tính</a:t>
                      </a:r>
                      <a:endParaRPr lang="en-US" baseline="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vi-VN" baseline="0" dirty="0" smtClean="0">
                          <a:latin typeface="Times New Roman" panose="02020603050405020304" pitchFamily="18" charset="0"/>
                        </a:rPr>
                        <a:t>178</a:t>
                      </a:r>
                      <a:endParaRPr lang="en-US" baseline="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921063"/>
                  </a:ext>
                </a:extLst>
              </a:tr>
              <a:tr h="34525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aseline="0" dirty="0" smtClean="0">
                          <a:latin typeface="Times New Roman" panose="02020603050405020304" pitchFamily="18" charset="0"/>
                        </a:rPr>
                        <a:t>Tin </a:t>
                      </a:r>
                      <a:r>
                        <a:rPr lang="en-US" baseline="0" dirty="0" err="1" smtClean="0">
                          <a:latin typeface="Times New Roman" panose="02020603050405020304" pitchFamily="18" charset="0"/>
                        </a:rPr>
                        <a:t>học</a:t>
                      </a:r>
                      <a:r>
                        <a:rPr lang="en-US" baseline="0" dirty="0" smtClean="0"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baseline="0" dirty="0" err="1" smtClean="0">
                          <a:latin typeface="Times New Roman" panose="02020603050405020304" pitchFamily="18" charset="0"/>
                        </a:rPr>
                        <a:t>Ứng</a:t>
                      </a:r>
                      <a:r>
                        <a:rPr lang="en-US" baseline="0" dirty="0" smtClean="0"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baseline="0" dirty="0" err="1" smtClean="0">
                          <a:latin typeface="Times New Roman" panose="02020603050405020304" pitchFamily="18" charset="0"/>
                        </a:rPr>
                        <a:t>dụng</a:t>
                      </a:r>
                      <a:endParaRPr lang="en-US" baseline="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vi-VN" baseline="0" dirty="0" smtClean="0">
                          <a:latin typeface="Times New Roman" panose="02020603050405020304" pitchFamily="18" charset="0"/>
                        </a:rPr>
                        <a:t>32</a:t>
                      </a:r>
                      <a:endParaRPr lang="en-US" baseline="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4193531"/>
                  </a:ext>
                </a:extLst>
              </a:tr>
              <a:tr h="34525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aseline="0" dirty="0" err="1" smtClean="0">
                          <a:latin typeface="Times New Roman" panose="02020603050405020304" pitchFamily="18" charset="0"/>
                        </a:rPr>
                        <a:t>Tổng</a:t>
                      </a:r>
                      <a:endParaRPr lang="en-US" baseline="0" dirty="0" smtClean="0"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vi-VN" baseline="0" dirty="0" smtClean="0">
                          <a:latin typeface="Times New Roman" panose="02020603050405020304" pitchFamily="18" charset="0"/>
                        </a:rPr>
                        <a:t>1251</a:t>
                      </a:r>
                      <a:endParaRPr lang="en-US" baseline="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1547680"/>
                  </a:ext>
                </a:extLst>
              </a:tr>
            </a:tbl>
          </a:graphicData>
        </a:graphic>
      </p:graphicFrame>
      <p:sp>
        <p:nvSpPr>
          <p:cNvPr id="10" name="Action Button: Return 9">
            <a:hlinkClick r:id="rId2" action="ppaction://hlinksldjump" highlightClick="1"/>
          </p:cNvPr>
          <p:cNvSpPr/>
          <p:nvPr/>
        </p:nvSpPr>
        <p:spPr>
          <a:xfrm>
            <a:off x="5559706" y="6400800"/>
            <a:ext cx="1075764" cy="331694"/>
          </a:xfrm>
          <a:prstGeom prst="actionButtonRetur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611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286</Words>
  <Application>Microsoft Office PowerPoint</Application>
  <PresentationFormat>Widescreen</PresentationFormat>
  <Paragraphs>60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Times New Roman</vt:lpstr>
      <vt:lpstr>Wingdings</vt:lpstr>
      <vt:lpstr>Office Theme</vt:lpstr>
      <vt:lpstr>BỐ CỤC MỘT BÀI THUYẾT TRÌNH</vt:lpstr>
      <vt:lpstr>GIỚI THIỆU</vt:lpstr>
      <vt:lpstr>PHÂN MỞ ĐẦU </vt:lpstr>
      <vt:lpstr>PHẦN CHÍNH</vt:lpstr>
      <vt:lpstr>Phần kết</vt:lpstr>
      <vt:lpstr>Cảm ơn sự chú ý của quý vị </vt:lpstr>
      <vt:lpstr>Ví dụ: sử dụng một đoạn trích dẫn khi giới thiệu</vt:lpstr>
      <vt:lpstr>Ví dụ minh chứng một vấn đề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BỐ CỤC MỘT BÀI THUYẾT TRÌNH</dc:title>
  <dc:creator>Treenler GaMing</dc:creator>
  <cp:lastModifiedBy>Administrator</cp:lastModifiedBy>
  <cp:revision>3</cp:revision>
  <dcterms:created xsi:type="dcterms:W3CDTF">2026-09-21T06:34:44Z</dcterms:created>
  <dcterms:modified xsi:type="dcterms:W3CDTF">2026-09-23T00:28:38Z</dcterms:modified>
</cp:coreProperties>
</file>